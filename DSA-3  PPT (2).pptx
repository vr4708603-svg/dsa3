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64" r:id="rId4"/>
    <p:sldId id="258" r:id="rId5"/>
    <p:sldId id="261" r:id="rId6"/>
    <p:sldId id="265" r:id="rId7"/>
    <p:sldId id="259" r:id="rId8"/>
    <p:sldId id="267" r:id="rId9"/>
    <p:sldId id="266" r:id="rId10"/>
    <p:sldId id="260" r:id="rId11"/>
    <p:sldId id="262" r:id="rId12"/>
    <p:sldId id="268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3DF03A0-5AD4-4D5D-B3D7-F70834D1E5FB}" v="11" dt="2026-08-23T10:15:16.13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D AMAN" userId="275dc728c18e5201" providerId="LiveId" clId="{096A4F02-BBF8-4AA7-869C-2AE72E6E4783}"/>
    <pc:docChg chg="undo custSel modSld">
      <pc:chgData name="MD AMAN" userId="275dc728c18e5201" providerId="LiveId" clId="{096A4F02-BBF8-4AA7-869C-2AE72E6E4783}" dt="2026-08-23T10:15:36.316" v="142" actId="1076"/>
      <pc:docMkLst>
        <pc:docMk/>
      </pc:docMkLst>
      <pc:sldChg chg="addSp delSp modSp mod">
        <pc:chgData name="MD AMAN" userId="275dc728c18e5201" providerId="LiveId" clId="{096A4F02-BBF8-4AA7-869C-2AE72E6E4783}" dt="2026-08-23T10:15:36.316" v="142" actId="1076"/>
        <pc:sldMkLst>
          <pc:docMk/>
          <pc:sldMk cId="0" sldId="256"/>
        </pc:sldMkLst>
        <pc:spChg chg="mod">
          <ac:chgData name="MD AMAN" userId="275dc728c18e5201" providerId="LiveId" clId="{096A4F02-BBF8-4AA7-869C-2AE72E6E4783}" dt="2026-08-23T10:14:36.535" v="136"/>
          <ac:spMkLst>
            <pc:docMk/>
            <pc:sldMk cId="0" sldId="256"/>
            <ac:spMk id="2" creationId="{00000000-0000-0000-0000-000000000000}"/>
          </ac:spMkLst>
        </pc:spChg>
        <pc:spChg chg="mod">
          <ac:chgData name="MD AMAN" userId="275dc728c18e5201" providerId="LiveId" clId="{096A4F02-BBF8-4AA7-869C-2AE72E6E4783}" dt="2026-08-23T10:15:36.316" v="142" actId="1076"/>
          <ac:spMkLst>
            <pc:docMk/>
            <pc:sldMk cId="0" sldId="256"/>
            <ac:spMk id="3" creationId="{00000000-0000-0000-0000-000000000000}"/>
          </ac:spMkLst>
        </pc:spChg>
        <pc:spChg chg="add del mod">
          <ac:chgData name="MD AMAN" userId="275dc728c18e5201" providerId="LiveId" clId="{096A4F02-BBF8-4AA7-869C-2AE72E6E4783}" dt="2026-08-23T10:14:38.329" v="138"/>
          <ac:spMkLst>
            <pc:docMk/>
            <pc:sldMk cId="0" sldId="256"/>
            <ac:spMk id="4" creationId="{2DF7DD74-4B52-68EA-3907-3AACECC2BE24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  <a:alpha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11" descr="KL University Hyderabad"/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4450"/>
            <a:ext cx="2101850" cy="900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7"/>
          <p:cNvSpPr/>
          <p:nvPr userDrawn="1"/>
        </p:nvSpPr>
        <p:spPr>
          <a:xfrm>
            <a:off x="0" y="6811963"/>
            <a:ext cx="12192000" cy="46037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" name="Rectangle 8"/>
          <p:cNvSpPr/>
          <p:nvPr userDrawn="1"/>
        </p:nvSpPr>
        <p:spPr>
          <a:xfrm>
            <a:off x="0" y="0"/>
            <a:ext cx="12192000" cy="46038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pic>
        <p:nvPicPr>
          <p:cNvPr id="10" name="Picture 6" descr="Background pattern&#10;&#10;Description automatically generated"/>
          <p:cNvPicPr>
            <a:picLocks noChangeAspect="1" noChangeArrowheads="1"/>
          </p:cNvPicPr>
          <p:nvPr userDrawn="1"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003550" cy="300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61938" y="1027775"/>
            <a:ext cx="9144000" cy="2316702"/>
          </a:xfrm>
        </p:spPr>
        <p:txBody>
          <a:bodyPr/>
          <a:lstStyle/>
          <a:p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br>
              <a:rPr lang="en-US" sz="4000" b="1" dirty="0">
                <a:solidFill>
                  <a:srgbClr val="C00000"/>
                </a:solidFill>
                <a:latin typeface="+mn-lt"/>
              </a:rPr>
            </a:br>
            <a:r>
              <a:rPr lang="en-US" sz="4000" b="1" dirty="0">
                <a:solidFill>
                  <a:srgbClr val="C00000"/>
                </a:solidFill>
                <a:latin typeface="+mn-lt"/>
              </a:rPr>
              <a:t>Data Structures and Algorithms -3 (25CS2103E)</a:t>
            </a:r>
            <a:br>
              <a:rPr lang="en-US" sz="4000" b="1" dirty="0">
                <a:solidFill>
                  <a:srgbClr val="C00000"/>
                </a:solidFill>
                <a:latin typeface="+mn-lt"/>
              </a:rPr>
            </a:br>
            <a:br>
              <a:rPr lang="en-US" sz="4000" b="1" dirty="0">
                <a:solidFill>
                  <a:srgbClr val="C00000"/>
                </a:solidFill>
                <a:latin typeface="+mn-lt"/>
              </a:rPr>
            </a:br>
            <a:r>
              <a:rPr lang="en-IN" sz="32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Automated Project Task Planning and Scheduling</a:t>
            </a:r>
            <a:r>
              <a:rPr lang="en-US" sz="32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158296" y="3344477"/>
            <a:ext cx="4551284" cy="1396014"/>
          </a:xfrm>
        </p:spPr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Team Members:</a:t>
            </a:r>
          </a:p>
          <a:p>
            <a:pPr marL="171450">
              <a:lnSpc>
                <a:spcPct val="107000"/>
              </a:lnSpc>
              <a:spcAft>
                <a:spcPts val="800"/>
              </a:spcAft>
            </a:pPr>
            <a:r>
              <a:rPr lang="en-US" sz="1800" b="1" kern="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Gautami" panose="020B0502040204020203" pitchFamily="34" charset="0"/>
              </a:rPr>
              <a:t>Md Aman - 2520030190 </a:t>
            </a:r>
          </a:p>
          <a:p>
            <a:pPr marL="171450">
              <a:lnSpc>
                <a:spcPct val="107000"/>
              </a:lnSpc>
              <a:spcAft>
                <a:spcPts val="800"/>
              </a:spcAft>
            </a:pPr>
            <a:r>
              <a:rPr lang="en-US" sz="1800" b="1" kern="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Gautami" panose="020B0502040204020203" pitchFamily="34" charset="0"/>
              </a:rPr>
              <a:t>V. Sree Pragnya - 2520030238 </a:t>
            </a:r>
          </a:p>
          <a:p>
            <a:pPr marL="171450">
              <a:lnSpc>
                <a:spcPct val="107000"/>
              </a:lnSpc>
              <a:spcAft>
                <a:spcPts val="800"/>
              </a:spcAft>
            </a:pPr>
            <a:r>
              <a:rPr lang="en-US" sz="1800" b="1" kern="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Gautami" panose="020B0502040204020203" pitchFamily="34" charset="0"/>
              </a:rPr>
              <a:t>Vaishnavi - 2520030247</a:t>
            </a:r>
            <a:endParaRPr lang="en-US" sz="1800" b="1" kern="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Gautami" panose="020B0502040204020203" pitchFamily="34" charset="0"/>
            </a:endParaRPr>
          </a:p>
          <a:p>
            <a:pPr marL="171450" algn="ctr">
              <a:lnSpc>
                <a:spcPct val="107000"/>
              </a:lnSpc>
              <a:spcAft>
                <a:spcPts val="800"/>
              </a:spcAft>
            </a:pPr>
            <a:r>
              <a:rPr lang="en-US" sz="18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Gautami" panose="020B0502040204020203" pitchFamily="34" charset="0"/>
              </a:rPr>
              <a:t>Under the Esteemed Guidance of</a:t>
            </a:r>
            <a:endParaRPr lang="en-IN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Gautami" panose="020B0502040204020203" pitchFamily="34" charset="0"/>
            </a:endParaRPr>
          </a:p>
          <a:p>
            <a:r>
              <a:rPr lang="en-US" b="1" dirty="0"/>
              <a:t>Yamini Devi</a:t>
            </a:r>
          </a:p>
          <a:p>
            <a:r>
              <a:rPr lang="en-IN" dirty="0"/>
              <a:t> </a:t>
            </a:r>
            <a:r>
              <a:rPr lang="en-IN" b="1" dirty="0"/>
              <a:t>Assistant Professor</a:t>
            </a:r>
            <a:endParaRPr lang="en-US" dirty="0">
              <a:solidFill>
                <a:srgbClr val="0070C0"/>
              </a:solidFill>
            </a:endParaRPr>
          </a:p>
          <a:p>
            <a:endParaRPr lang="en-US" b="1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1C70C049-38C4-198F-3181-AACE07DE24AE}"/>
              </a:ext>
            </a:extLst>
          </p:cNvPr>
          <p:cNvSpPr txBox="1"/>
          <p:nvPr/>
        </p:nvSpPr>
        <p:spPr>
          <a:xfrm>
            <a:off x="3736109" y="806448"/>
            <a:ext cx="6936386" cy="58355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 algn="l" rtl="0" eaLnBrk="1" fontAlgn="t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3200" b="0" i="0" u="none" strike="noStrike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Abstract</a:t>
            </a:r>
          </a:p>
          <a:p>
            <a:pPr marL="457200" indent="-457200" algn="l" rtl="0" eaLnBrk="1" fontAlgn="t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3200" b="0" i="0" u="none" strike="noStrike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Introduction</a:t>
            </a:r>
            <a:endParaRPr lang="en-IN" sz="3200" b="0" i="0" u="none" strike="noStrike" dirty="0">
              <a:effectLst/>
              <a:latin typeface="Arial" panose="020B0604020202020204" pitchFamily="34" charset="0"/>
            </a:endParaRPr>
          </a:p>
          <a:p>
            <a:pPr marL="457200" indent="-457200" algn="l" rtl="0" eaLnBrk="1" fontAlgn="t" latinLnBrk="0" hangingPunct="1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Gautami" panose="020B0502040204020203" pitchFamily="34" charset="0"/>
              </a:rPr>
              <a:t>Literature survey</a:t>
            </a:r>
            <a:endParaRPr lang="en-IN" sz="3200" b="0" i="0" u="none" strike="noStrike" dirty="0">
              <a:effectLst/>
              <a:latin typeface="Arial" panose="020B0604020202020204" pitchFamily="34" charset="0"/>
            </a:endParaRPr>
          </a:p>
          <a:p>
            <a:pPr marL="457200" indent="-457200" algn="l" rtl="0" eaLnBrk="1" fontAlgn="t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Gautami" panose="020B0502040204020203" pitchFamily="34" charset="0"/>
              </a:rPr>
              <a:t>Problem Statement and Objectives</a:t>
            </a:r>
            <a:endParaRPr lang="en-IN" sz="3200" b="0" i="0" u="none" strike="noStrike" dirty="0">
              <a:effectLst/>
              <a:latin typeface="Arial" panose="020B0604020202020204" pitchFamily="34" charset="0"/>
            </a:endParaRPr>
          </a:p>
          <a:p>
            <a:pPr marL="457200" indent="-457200" algn="l" rtl="0" eaLnBrk="1" fontAlgn="t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Gautami" panose="020B0502040204020203" pitchFamily="34" charset="0"/>
              </a:rPr>
              <a:t>Hardware and Software requirements</a:t>
            </a:r>
            <a:endParaRPr lang="en-IN" sz="3200" b="0" i="0" u="none" strike="noStrike" dirty="0">
              <a:effectLst/>
              <a:latin typeface="Arial" panose="020B0604020202020204" pitchFamily="34" charset="0"/>
            </a:endParaRPr>
          </a:p>
          <a:p>
            <a:pPr marL="457200" indent="-457200" algn="l" rtl="0" eaLnBrk="1" fontAlgn="t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Gautami" panose="020B0502040204020203" pitchFamily="34" charset="0"/>
              </a:rPr>
              <a:t>Results</a:t>
            </a:r>
            <a:endParaRPr lang="en-IN" sz="3200" b="0" i="0" u="none" strike="noStrike" dirty="0">
              <a:effectLst/>
              <a:latin typeface="Arial" panose="020B0604020202020204" pitchFamily="34" charset="0"/>
            </a:endParaRPr>
          </a:p>
          <a:p>
            <a:pPr marL="457200" indent="-457200" algn="l" rtl="0" eaLnBrk="1" fontAlgn="t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Gautami" panose="020B0502040204020203" pitchFamily="34" charset="0"/>
              </a:rPr>
              <a:t>Conclusion </a:t>
            </a:r>
          </a:p>
          <a:p>
            <a:pPr marL="457200" indent="-457200" algn="l" rtl="0" eaLnBrk="1" fontAlgn="t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Gautami" panose="020B0502040204020203" pitchFamily="34" charset="0"/>
              </a:rPr>
              <a:t>Future Scope </a:t>
            </a:r>
            <a:endParaRPr lang="en-IN" sz="3200" b="0" i="0" u="none" strike="noStrike" dirty="0">
              <a:effectLst/>
              <a:latin typeface="Arial" panose="020B0604020202020204" pitchFamily="34" charset="0"/>
            </a:endParaRPr>
          </a:p>
          <a:p>
            <a:endParaRPr lang="en-IN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EAC2F32-24D5-FDE9-EB0F-31C7733C95E6}"/>
              </a:ext>
            </a:extLst>
          </p:cNvPr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CA499C0-FC38-6642-1E16-B8CFFC9C9314}"/>
              </a:ext>
            </a:extLst>
          </p:cNvPr>
          <p:cNvSpPr txBox="1"/>
          <p:nvPr/>
        </p:nvSpPr>
        <p:spPr>
          <a:xfrm>
            <a:off x="2660072" y="221673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Contents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2660072" y="221673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Abstract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2A6CCF7-9A8D-D4FC-C9B7-A10B028A7CFA}"/>
              </a:ext>
            </a:extLst>
          </p:cNvPr>
          <p:cNvSpPr txBox="1"/>
          <p:nvPr/>
        </p:nvSpPr>
        <p:spPr>
          <a:xfrm>
            <a:off x="357672" y="1518131"/>
            <a:ext cx="11476653" cy="46103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2200" dirty="0"/>
              <a:t>Develops a </a:t>
            </a:r>
            <a:r>
              <a:rPr lang="en-IN" sz="2200" b="1" dirty="0"/>
              <a:t>Project Scheduling System</a:t>
            </a:r>
            <a:r>
              <a:rPr lang="en-IN" sz="2200" dirty="0"/>
              <a:t> to manage tasks and their dependencies. </a:t>
            </a:r>
          </a:p>
          <a:p>
            <a:pPr marL="285750" lvl="0" indent="-28575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2200" dirty="0"/>
              <a:t>Represents tasks and dependencies using a </a:t>
            </a:r>
            <a:r>
              <a:rPr lang="en-IN" sz="2200" b="1" dirty="0"/>
              <a:t>Directed Graph (DAG)</a:t>
            </a:r>
            <a:r>
              <a:rPr lang="en-IN" sz="2200" dirty="0"/>
              <a:t>. </a:t>
            </a:r>
          </a:p>
          <a:p>
            <a:pPr marL="285750" lvl="0" indent="-28575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2200" dirty="0"/>
              <a:t>Uses </a:t>
            </a:r>
            <a:r>
              <a:rPr lang="en-IN" sz="2200" b="1" dirty="0"/>
              <a:t>Topological Sorting</a:t>
            </a:r>
            <a:r>
              <a:rPr lang="en-IN" sz="2200" dirty="0"/>
              <a:t> to generate a valid task execution order. </a:t>
            </a:r>
          </a:p>
          <a:p>
            <a:pPr marL="285750" lvl="0" indent="-28575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2200" dirty="0"/>
              <a:t>Calculates task completion times while satisfying </a:t>
            </a:r>
            <a:r>
              <a:rPr lang="en-IN" sz="2200" b="1" dirty="0"/>
              <a:t>precedence constraints</a:t>
            </a:r>
            <a:r>
              <a:rPr lang="en-IN" sz="2200" dirty="0"/>
              <a:t>. </a:t>
            </a:r>
          </a:p>
          <a:p>
            <a:pPr marL="285750" lvl="0" indent="-28575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2200" dirty="0"/>
              <a:t>Identifies the </a:t>
            </a:r>
            <a:r>
              <a:rPr lang="en-IN" sz="2200" b="1" dirty="0"/>
              <a:t>Critical Path</a:t>
            </a:r>
            <a:r>
              <a:rPr lang="en-IN" sz="2200" dirty="0"/>
              <a:t> and critical tasks affecting project completion. </a:t>
            </a:r>
          </a:p>
          <a:p>
            <a:pPr marL="285750" lvl="0" indent="-28575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2200" dirty="0"/>
              <a:t>Helps determine the </a:t>
            </a:r>
            <a:r>
              <a:rPr lang="en-IN" sz="2200" b="1" dirty="0"/>
              <a:t>minimum overall project completion time</a:t>
            </a:r>
            <a:r>
              <a:rPr lang="en-IN" sz="2200" dirty="0"/>
              <a:t>. </a:t>
            </a:r>
          </a:p>
          <a:p>
            <a:pPr marL="285750" lvl="0" indent="-28575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2200" dirty="0"/>
              <a:t>Demonstrates the application of </a:t>
            </a:r>
            <a:r>
              <a:rPr lang="en-IN" sz="2200" b="1" dirty="0"/>
              <a:t>graph algorithms and optimization techniques</a:t>
            </a:r>
            <a:r>
              <a:rPr lang="en-IN" sz="2200" dirty="0"/>
              <a:t> in real-world project management. </a:t>
            </a:r>
          </a:p>
          <a:p>
            <a:pPr marL="285750" lvl="0" indent="-28575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2200" dirty="0"/>
              <a:t>Designed to efficiently handle </a:t>
            </a:r>
            <a:r>
              <a:rPr lang="en-IN" sz="2200" b="1" dirty="0"/>
              <a:t>up to 1000 tasks</a:t>
            </a:r>
            <a:r>
              <a:rPr lang="en-IN" sz="2200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6724225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93965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Introduction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1865453-BDA1-6B26-796C-1AB1261F0133}"/>
              </a:ext>
            </a:extLst>
          </p:cNvPr>
          <p:cNvSpPr txBox="1"/>
          <p:nvPr/>
        </p:nvSpPr>
        <p:spPr>
          <a:xfrm>
            <a:off x="447870" y="1091681"/>
            <a:ext cx="11094098" cy="61338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2200" dirty="0"/>
              <a:t>Project management involves handling multiple tasks that may have </a:t>
            </a:r>
            <a:r>
              <a:rPr lang="en-IN" sz="2200" b="1" dirty="0"/>
              <a:t>dependencies and execution constraints</a:t>
            </a:r>
            <a:r>
              <a:rPr lang="en-IN" sz="2200" dirty="0"/>
              <a:t>. </a:t>
            </a:r>
          </a:p>
          <a:p>
            <a:pPr marL="285750" lvl="0" indent="-28575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2200" dirty="0"/>
              <a:t>A task can begin only after its required predecessor tasks are completed. </a:t>
            </a:r>
          </a:p>
          <a:p>
            <a:pPr marL="285750" lvl="0" indent="-28575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2200" dirty="0"/>
              <a:t>Managing these dependencies manually becomes difficult as the </a:t>
            </a:r>
            <a:r>
              <a:rPr lang="en-IN" sz="2200" b="1" dirty="0"/>
              <a:t>number of tasks increases</a:t>
            </a:r>
            <a:r>
              <a:rPr lang="en-IN" sz="2200" dirty="0"/>
              <a:t>. </a:t>
            </a:r>
          </a:p>
          <a:p>
            <a:pPr marL="285750" lvl="0" indent="-28575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2200" dirty="0"/>
              <a:t>The proposed system represents tasks and dependencies using a </a:t>
            </a:r>
            <a:r>
              <a:rPr lang="en-IN" sz="2200" b="1" dirty="0"/>
              <a:t>Directed Graph</a:t>
            </a:r>
            <a:r>
              <a:rPr lang="en-IN" sz="2200" dirty="0"/>
              <a:t>. </a:t>
            </a:r>
          </a:p>
          <a:p>
            <a:pPr marL="285750" lvl="0" indent="-28575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2200" b="1" dirty="0"/>
              <a:t>Topological Sorting</a:t>
            </a:r>
            <a:r>
              <a:rPr lang="en-IN" sz="2200" dirty="0"/>
              <a:t> is used to determine a valid execution sequence that satisfies all dependencies. </a:t>
            </a:r>
          </a:p>
          <a:p>
            <a:pPr marL="285750" lvl="0" indent="-28575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2200" dirty="0"/>
              <a:t>Task durations are considered to calculate the </a:t>
            </a:r>
            <a:r>
              <a:rPr lang="en-IN" sz="2200" b="1" dirty="0"/>
              <a:t>project completion time and critical path</a:t>
            </a:r>
            <a:r>
              <a:rPr lang="en-IN" sz="2200" dirty="0"/>
              <a:t>. </a:t>
            </a:r>
          </a:p>
          <a:p>
            <a:pPr marL="285750" lvl="0" indent="-28575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2200" dirty="0"/>
              <a:t>The system demonstrates the use of </a:t>
            </a:r>
            <a:r>
              <a:rPr lang="en-IN" sz="2200" b="1" dirty="0"/>
              <a:t>graph algorithms and optimization techniques</a:t>
            </a:r>
            <a:r>
              <a:rPr lang="en-IN" sz="2200" dirty="0"/>
              <a:t> for real-world scheduling problems. </a:t>
            </a:r>
          </a:p>
          <a:p>
            <a:pPr marL="285750" lvl="0" indent="-28575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2200" dirty="0"/>
              <a:t>It supports efficient scheduling for projects containing </a:t>
            </a:r>
            <a:r>
              <a:rPr lang="en-IN" sz="2200" b="1" dirty="0"/>
              <a:t>up to 1000 tasks</a:t>
            </a:r>
            <a:r>
              <a:rPr lang="en-IN" sz="2200" dirty="0"/>
              <a:t>. 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endParaRPr lang="en-IN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93965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Literature Survey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BE56367-7DB5-EC95-D73B-D35517CCB5A2}"/>
              </a:ext>
            </a:extLst>
          </p:cNvPr>
          <p:cNvSpPr txBox="1"/>
          <p:nvPr/>
        </p:nvSpPr>
        <p:spPr>
          <a:xfrm>
            <a:off x="643812" y="1856792"/>
            <a:ext cx="11290041" cy="35947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2200" b="1" dirty="0"/>
              <a:t>Graph-Based Scheduling:</a:t>
            </a:r>
            <a:r>
              <a:rPr lang="en-IN" sz="2200" dirty="0"/>
              <a:t> Project tasks can be represented as vertices and dependencies as directed edges. Topological sorting helps generate a valid task execution sequence. 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2200" b="1" dirty="0"/>
              <a:t>Critical Path &amp; Optimization:</a:t>
            </a:r>
            <a:r>
              <a:rPr lang="en-IN" sz="2200" dirty="0"/>
              <a:t> Scheduling approaches </a:t>
            </a:r>
            <a:r>
              <a:rPr lang="en-IN" sz="2200" dirty="0" err="1"/>
              <a:t>analyze</a:t>
            </a:r>
            <a:r>
              <a:rPr lang="en-IN" sz="2200" dirty="0"/>
              <a:t> task durations and dependencies to identify critical tasks and reduce overall project completion time. 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2200" b="1" dirty="0"/>
              <a:t>Advanced Scheduling:</a:t>
            </a:r>
            <a:r>
              <a:rPr lang="en-IN" sz="2200" dirty="0"/>
              <a:t> The DSA-3 course recognizes scheduling as an optimization problem and includes computational complexity and approximation techniques for scheduling.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endParaRPr lang="en-IN" sz="2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2660072" y="221673"/>
            <a:ext cx="6723625" cy="65579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2660072" y="292694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Problem Statement and Objectives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79BAC70-23D2-7956-0F06-6C8F1618CFB2}"/>
              </a:ext>
            </a:extLst>
          </p:cNvPr>
          <p:cNvSpPr txBox="1"/>
          <p:nvPr/>
        </p:nvSpPr>
        <p:spPr>
          <a:xfrm>
            <a:off x="364423" y="1408922"/>
            <a:ext cx="5657461" cy="46198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b="1" dirty="0"/>
              <a:t>Problem Statement: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dirty="0"/>
              <a:t>Project tasks often have </a:t>
            </a:r>
            <a:r>
              <a:rPr lang="en-IN" b="1" dirty="0"/>
              <a:t>dependencies and precedence constraints</a:t>
            </a:r>
            <a:r>
              <a:rPr lang="en-IN" dirty="0"/>
              <a:t> that determine their execution order. 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dirty="0"/>
              <a:t>Manually managing these dependencies becomes difficult as the </a:t>
            </a:r>
            <a:r>
              <a:rPr lang="en-IN" b="1" dirty="0"/>
              <a:t>number of tasks increases</a:t>
            </a:r>
            <a:r>
              <a:rPr lang="en-IN" dirty="0"/>
              <a:t>. 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dirty="0"/>
              <a:t>The system aims to generate a </a:t>
            </a:r>
            <a:r>
              <a:rPr lang="en-IN" b="1" dirty="0"/>
              <a:t>valid and optimized execution schedule</a:t>
            </a:r>
            <a:r>
              <a:rPr lang="en-IN" dirty="0"/>
              <a:t> while satisfying all task dependencies. 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dirty="0"/>
              <a:t>It also identifies </a:t>
            </a:r>
            <a:r>
              <a:rPr lang="en-IN" b="1" dirty="0"/>
              <a:t>critical tasks and the overall project completion time</a:t>
            </a:r>
            <a:r>
              <a:rPr lang="en-IN" dirty="0"/>
              <a:t>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E030BF5-B1C3-972F-8F94-FF922E336FEE}"/>
              </a:ext>
            </a:extLst>
          </p:cNvPr>
          <p:cNvSpPr txBox="1"/>
          <p:nvPr/>
        </p:nvSpPr>
        <p:spPr>
          <a:xfrm>
            <a:off x="6400800" y="1483567"/>
            <a:ext cx="5426777" cy="42043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b="1" dirty="0"/>
              <a:t>Objectives:</a:t>
            </a:r>
          </a:p>
          <a:p>
            <a:pPr marL="285750" lvl="0" indent="-28575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b="1" dirty="0"/>
              <a:t>Add and manage</a:t>
            </a:r>
            <a:r>
              <a:rPr lang="en-IN" dirty="0"/>
              <a:t> project tasks, durations, and dependencies. </a:t>
            </a:r>
          </a:p>
          <a:p>
            <a:pPr marL="285750" lvl="0" indent="-28575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dirty="0"/>
              <a:t>Use </a:t>
            </a:r>
            <a:r>
              <a:rPr lang="en-IN" b="1" dirty="0"/>
              <a:t>Graph and Topological Sorting</a:t>
            </a:r>
            <a:r>
              <a:rPr lang="en-IN" dirty="0"/>
              <a:t> to determine the correct execution order. </a:t>
            </a:r>
          </a:p>
          <a:p>
            <a:pPr marL="285750" lvl="0" indent="-28575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b="1" dirty="0"/>
              <a:t>Detect circular dependencies</a:t>
            </a:r>
            <a:r>
              <a:rPr lang="en-IN" dirty="0"/>
              <a:t> that make scheduling impossible. </a:t>
            </a:r>
          </a:p>
          <a:p>
            <a:pPr marL="285750" lvl="0" indent="-28575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dirty="0"/>
              <a:t>Calculate the </a:t>
            </a:r>
            <a:r>
              <a:rPr lang="en-IN" b="1" dirty="0"/>
              <a:t>minimum project completion time</a:t>
            </a:r>
            <a:r>
              <a:rPr lang="en-IN" dirty="0"/>
              <a:t>. </a:t>
            </a:r>
          </a:p>
          <a:p>
            <a:pPr marL="285750" lvl="0" indent="-28575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dirty="0"/>
              <a:t>Identify the </a:t>
            </a:r>
            <a:r>
              <a:rPr lang="en-IN" b="1" dirty="0"/>
              <a:t>Critical Path and critical tasks</a:t>
            </a:r>
            <a:r>
              <a:rPr lang="en-IN" dirty="0"/>
              <a:t>. </a:t>
            </a:r>
          </a:p>
          <a:p>
            <a:pPr marL="285750" lvl="0" indent="-28575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dirty="0"/>
              <a:t>Efficiently handle projects with </a:t>
            </a:r>
            <a:r>
              <a:rPr lang="en-IN" b="1" dirty="0"/>
              <a:t>up to 1000 tasks</a:t>
            </a:r>
            <a:r>
              <a:rPr lang="en-IN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410266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93965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algn="ctr"/>
            <a:r>
              <a:rPr lang="en-US" sz="3200" b="1" dirty="0">
                <a:solidFill>
                  <a:schemeClr val="bg1"/>
                </a:solidFill>
              </a:rPr>
              <a:t>Flow Chart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9548172-645B-1383-48ED-D6585DBF3B0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5466" y="1189477"/>
            <a:ext cx="8021066" cy="527968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93965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kern="0" dirty="0">
                <a:solidFill>
                  <a:schemeClr val="bg1"/>
                </a:solidFill>
                <a:effectLst/>
                <a:ea typeface="Times New Roman" panose="02020603050405020304" pitchFamily="18" charset="0"/>
              </a:rPr>
              <a:t>Results</a:t>
            </a:r>
            <a:endParaRPr lang="en-US" sz="3200" b="1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C7B5B2-D215-1CCD-4CAF-943C85209EA8}"/>
              </a:ext>
            </a:extLst>
          </p:cNvPr>
          <p:cNvSpPr txBox="1"/>
          <p:nvPr/>
        </p:nvSpPr>
        <p:spPr>
          <a:xfrm>
            <a:off x="830424" y="1231641"/>
            <a:ext cx="10291666" cy="46103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2200" dirty="0"/>
              <a:t>Successfully generated a </a:t>
            </a:r>
            <a:r>
              <a:rPr lang="en-IN" sz="2200" b="1" dirty="0"/>
              <a:t>valid project execution schedule</a:t>
            </a:r>
            <a:r>
              <a:rPr lang="en-IN" sz="2200" dirty="0"/>
              <a:t> while satisfying all task dependencies. 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2200" b="1" dirty="0"/>
              <a:t>Topological Sorting</a:t>
            </a:r>
            <a:r>
              <a:rPr lang="en-IN" sz="2200" dirty="0"/>
              <a:t> determined the correct order of task execution and helped identify circular dependencies. 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2200" dirty="0"/>
              <a:t>Task durations were </a:t>
            </a:r>
            <a:r>
              <a:rPr lang="en-IN" sz="2200" dirty="0" err="1"/>
              <a:t>analyzed</a:t>
            </a:r>
            <a:r>
              <a:rPr lang="en-IN" sz="2200" dirty="0"/>
              <a:t> to calculate the </a:t>
            </a:r>
            <a:r>
              <a:rPr lang="en-IN" sz="2200" b="1" dirty="0"/>
              <a:t>minimum project completion time</a:t>
            </a:r>
            <a:r>
              <a:rPr lang="en-IN" sz="2200" dirty="0"/>
              <a:t>. 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2200" dirty="0"/>
              <a:t>The </a:t>
            </a:r>
            <a:r>
              <a:rPr lang="en-IN" sz="2200" b="1" dirty="0"/>
              <a:t>Critical Path and critical tasks</a:t>
            </a:r>
            <a:r>
              <a:rPr lang="en-IN" sz="2200" dirty="0"/>
              <a:t> were identified for effective project management. 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2200" dirty="0"/>
              <a:t>The system demonstrates the application of </a:t>
            </a:r>
            <a:r>
              <a:rPr lang="en-IN" sz="2200" b="1" dirty="0"/>
              <a:t>graph algorithms and optimization techniques</a:t>
            </a:r>
            <a:r>
              <a:rPr lang="en-IN" sz="2200" dirty="0"/>
              <a:t> to project scheduling.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endParaRPr lang="en-IN" sz="2200" dirty="0"/>
          </a:p>
        </p:txBody>
      </p:sp>
    </p:spTree>
    <p:extLst>
      <p:ext uri="{BB962C8B-B14F-4D97-AF65-F5344CB8AC3E}">
        <p14:creationId xmlns:p14="http://schemas.microsoft.com/office/powerpoint/2010/main" val="1060922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654372" y="262038"/>
            <a:ext cx="6419945" cy="60395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3547840" y="302403"/>
            <a:ext cx="68718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kern="0" dirty="0">
                <a:solidFill>
                  <a:schemeClr val="bg1"/>
                </a:solidFill>
                <a:effectLst/>
                <a:ea typeface="Times New Roman" panose="02020603050405020304" pitchFamily="18" charset="0"/>
              </a:rPr>
              <a:t>Hardware and Software requirements</a:t>
            </a:r>
            <a:endParaRPr lang="en-US" sz="2800" b="1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D3FD840-CD93-668C-B2C3-CA8964A8C677}"/>
              </a:ext>
            </a:extLst>
          </p:cNvPr>
          <p:cNvSpPr txBox="1"/>
          <p:nvPr/>
        </p:nvSpPr>
        <p:spPr>
          <a:xfrm>
            <a:off x="653794" y="1268934"/>
            <a:ext cx="4916581" cy="35947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2200" b="1" dirty="0"/>
              <a:t>Hardware Requirements: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2200" b="1" dirty="0"/>
              <a:t>Processor:</a:t>
            </a:r>
            <a:r>
              <a:rPr lang="en-IN" sz="2200" dirty="0"/>
              <a:t> Intel Core i3 or equivalent 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2200" b="1" dirty="0"/>
              <a:t>RAM:</a:t>
            </a:r>
            <a:r>
              <a:rPr lang="en-IN" sz="2200" dirty="0"/>
              <a:t> Minimum 4 GB 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2200" b="1" dirty="0"/>
              <a:t>Storage:</a:t>
            </a:r>
            <a:r>
              <a:rPr lang="en-IN" sz="2200" dirty="0"/>
              <a:t> Minimum 10 GB free space 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2200" b="1" dirty="0"/>
              <a:t>Display:</a:t>
            </a:r>
            <a:r>
              <a:rPr lang="en-IN" sz="2200" dirty="0"/>
              <a:t> Standard monitor 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2200" b="1" dirty="0"/>
              <a:t>Keyboard &amp; Mouse</a:t>
            </a:r>
            <a:endParaRPr lang="en-IN" sz="2200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endParaRPr lang="en-IN" sz="2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433FCEC-226B-9B47-5218-8F664B19CFB4}"/>
              </a:ext>
            </a:extLst>
          </p:cNvPr>
          <p:cNvSpPr txBox="1"/>
          <p:nvPr/>
        </p:nvSpPr>
        <p:spPr>
          <a:xfrm>
            <a:off x="5924939" y="1287595"/>
            <a:ext cx="5197151" cy="56260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2200" b="1" dirty="0"/>
              <a:t>Software Requirements: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2200" b="1" dirty="0"/>
              <a:t>Operating System:</a:t>
            </a:r>
            <a:r>
              <a:rPr lang="en-IN" sz="2200" dirty="0"/>
              <a:t> Windows / Linux 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2200" b="1" dirty="0"/>
              <a:t>Programming Language:</a:t>
            </a:r>
            <a:r>
              <a:rPr lang="en-IN" sz="2200" dirty="0"/>
              <a:t> Java 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2200" b="1" dirty="0"/>
              <a:t>IDE:</a:t>
            </a:r>
            <a:r>
              <a:rPr lang="en-IN" sz="2200" dirty="0"/>
              <a:t> IntelliJ IDEA / Eclipse / VS Code 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2200" b="1" dirty="0"/>
              <a:t>JDK:</a:t>
            </a:r>
            <a:r>
              <a:rPr lang="en-IN" sz="2200" dirty="0"/>
              <a:t> JDK 17 or above 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2200" b="1" dirty="0"/>
              <a:t>Data Structures:</a:t>
            </a:r>
            <a:r>
              <a:rPr lang="en-IN" sz="2200" dirty="0"/>
              <a:t> Graph, Adjacency List, Queue 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2200" b="1" dirty="0"/>
              <a:t>Algorithms:</a:t>
            </a:r>
            <a:r>
              <a:rPr lang="en-IN" sz="2200" dirty="0"/>
              <a:t> Topological Sorting and Critical Path Analysis 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2200" b="1" dirty="0"/>
              <a:t>No special hardware required</a:t>
            </a:r>
            <a:endParaRPr lang="en-IN" sz="2200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endParaRPr lang="en-IN" sz="2200" dirty="0"/>
          </a:p>
        </p:txBody>
      </p:sp>
    </p:spTree>
    <p:extLst>
      <p:ext uri="{BB962C8B-B14F-4D97-AF65-F5344CB8AC3E}">
        <p14:creationId xmlns:p14="http://schemas.microsoft.com/office/powerpoint/2010/main" val="22927509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87903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Conclusion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113785A-2571-7D63-C58A-37E3CE1BEF30}"/>
              </a:ext>
            </a:extLst>
          </p:cNvPr>
          <p:cNvSpPr txBox="1"/>
          <p:nvPr/>
        </p:nvSpPr>
        <p:spPr>
          <a:xfrm>
            <a:off x="867746" y="1492898"/>
            <a:ext cx="10739535" cy="35947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2200" dirty="0"/>
              <a:t>Successfully developed a </a:t>
            </a:r>
            <a:r>
              <a:rPr lang="en-IN" sz="2200" b="1" dirty="0"/>
              <a:t>Project Scheduling System</a:t>
            </a:r>
            <a:r>
              <a:rPr lang="en-IN" sz="2200" dirty="0"/>
              <a:t> using graph-based techniques. 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2200" b="1" dirty="0"/>
              <a:t>Topological Sorting</a:t>
            </a:r>
            <a:r>
              <a:rPr lang="en-IN" sz="2200" dirty="0"/>
              <a:t> generates a valid task execution order while satisfying all dependencies. 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2200" dirty="0"/>
              <a:t>The system identifies the </a:t>
            </a:r>
            <a:r>
              <a:rPr lang="en-IN" sz="2200" b="1" dirty="0"/>
              <a:t>Critical Path</a:t>
            </a:r>
            <a:r>
              <a:rPr lang="en-IN" sz="2200" dirty="0"/>
              <a:t> and calculates the minimum project completion time. 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2200" dirty="0"/>
              <a:t>The project demonstrates the practical use of </a:t>
            </a:r>
            <a:r>
              <a:rPr lang="en-IN" sz="2200" b="1" dirty="0"/>
              <a:t>DSA and optimization techniques</a:t>
            </a:r>
            <a:r>
              <a:rPr lang="en-IN" sz="2200" dirty="0"/>
              <a:t> in project management.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2660072" y="154134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 Future Scope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EAFA3EE-371E-1E04-A537-700C6B35408F}"/>
              </a:ext>
            </a:extLst>
          </p:cNvPr>
          <p:cNvSpPr txBox="1"/>
          <p:nvPr/>
        </p:nvSpPr>
        <p:spPr>
          <a:xfrm>
            <a:off x="1362268" y="1912776"/>
            <a:ext cx="10739535" cy="3383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IN" sz="2200" dirty="0"/>
              <a:t>Add </a:t>
            </a:r>
            <a:r>
              <a:rPr lang="en-IN" sz="2200" b="1" dirty="0"/>
              <a:t>resource constraints and task priorities</a:t>
            </a:r>
            <a:r>
              <a:rPr lang="en-IN" sz="2200" dirty="0"/>
              <a:t> for more realistic scheduling. </a:t>
            </a:r>
          </a:p>
          <a:p>
            <a:pPr marL="342900" lvl="0" indent="-34290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IN" sz="2200" dirty="0"/>
              <a:t>Support </a:t>
            </a:r>
            <a:r>
              <a:rPr lang="en-IN" sz="2200" b="1" dirty="0"/>
              <a:t>deadlines and multiple project resources</a:t>
            </a:r>
            <a:r>
              <a:rPr lang="en-IN" sz="2200" dirty="0"/>
              <a:t> to improve optimization. </a:t>
            </a:r>
          </a:p>
          <a:p>
            <a:pPr marL="342900" lvl="0" indent="-34290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IN" sz="2200" dirty="0"/>
              <a:t>Integrate </a:t>
            </a:r>
            <a:r>
              <a:rPr lang="en-IN" sz="2200" b="1" dirty="0"/>
              <a:t>advanced approximation algorithms</a:t>
            </a:r>
            <a:r>
              <a:rPr lang="en-IN" sz="2200" dirty="0"/>
              <a:t> for complex scheduling problems. </a:t>
            </a:r>
          </a:p>
          <a:p>
            <a:pPr marL="342900" lvl="0" indent="-34290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IN" sz="2200" dirty="0"/>
              <a:t>Add </a:t>
            </a:r>
            <a:r>
              <a:rPr lang="en-IN" sz="2200" b="1" dirty="0"/>
              <a:t>parallel task execution</a:t>
            </a:r>
            <a:r>
              <a:rPr lang="en-IN" sz="2200" dirty="0"/>
              <a:t> to reduce overall project completion time.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q"/>
            </a:pPr>
            <a:endParaRPr lang="en-IN" sz="2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3736107" y="2619376"/>
            <a:ext cx="4946253" cy="135782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3135434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</TotalTime>
  <Words>709</Words>
  <Application>Microsoft Office PowerPoint</Application>
  <PresentationFormat>Widescreen</PresentationFormat>
  <Paragraphs>85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Times New Roman</vt:lpstr>
      <vt:lpstr>Wingdings</vt:lpstr>
      <vt:lpstr>Office Theme</vt:lpstr>
      <vt:lpstr>       Data Structures and Algorithms -3 (25CS2103E)  Automated Project Task Planning and Scheduling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Sirisha Devi</dc:creator>
  <cp:lastModifiedBy>MD AMAN</cp:lastModifiedBy>
  <cp:revision>20</cp:revision>
  <dcterms:created xsi:type="dcterms:W3CDTF">2024-08-29T05:25:00Z</dcterms:created>
  <dcterms:modified xsi:type="dcterms:W3CDTF">2026-08-23T10:15:46Z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FB2A1F042FC047C6B4D7E0BF0C20B2E9_13</vt:lpwstr>
  </property>
  <property fmtid="{D5CDD505-2E9C-101B-9397-08002B2CF9AE}" pid="3" name="KSOProductBuildVer">
    <vt:lpwstr>1033-12.2.0.23131</vt:lpwstr>
  </property>
</Properties>
</file>